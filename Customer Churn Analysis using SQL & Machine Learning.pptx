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49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853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75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72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03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8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537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12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58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17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3126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896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0081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424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211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035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B4A58-CD32-4828-ADA2-09158EFA818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E71C67-3392-4859-8114-05341D23F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30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C703-0B74-4AC0-EFBD-141380CD9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Analysis using SQL &amp;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10E7E-6CD2-B617-2861-1D8DA5A38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522" y="2367627"/>
            <a:ext cx="903629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Title:</a:t>
            </a:r>
            <a:r>
              <a:rPr lang="en-US" sz="3200" dirty="0"/>
              <a:t> Customer Churn Analysis using SQL &amp; Machine Learning</a:t>
            </a:r>
            <a:br>
              <a:rPr lang="en-US" sz="3200" dirty="0"/>
            </a:br>
            <a:r>
              <a:rPr lang="en-US" sz="3200" b="1" dirty="0"/>
              <a:t>Name:</a:t>
            </a:r>
            <a:r>
              <a:rPr lang="en-US" sz="3200" dirty="0"/>
              <a:t> Khandalkar Sanchit Sanjay</a:t>
            </a:r>
            <a:br>
              <a:rPr lang="en-US" sz="3200" dirty="0"/>
            </a:br>
            <a:r>
              <a:rPr lang="en-US" sz="3200" b="1" dirty="0"/>
              <a:t>Course:</a:t>
            </a:r>
            <a:r>
              <a:rPr lang="en-US" sz="3200" dirty="0"/>
              <a:t> Computer Engineering</a:t>
            </a:r>
            <a:br>
              <a:rPr lang="en-US" sz="3200" dirty="0"/>
            </a:br>
            <a:r>
              <a:rPr lang="en-US" sz="3200" b="1" dirty="0"/>
              <a:t>Tools Used:</a:t>
            </a:r>
            <a:r>
              <a:rPr lang="en-US" sz="3200" dirty="0"/>
              <a:t> Python, SQL, </a:t>
            </a:r>
            <a:r>
              <a:rPr lang="en-US" sz="3200" dirty="0" err="1"/>
              <a:t>Jupyter</a:t>
            </a:r>
            <a:r>
              <a:rPr lang="en-US" sz="3200" dirty="0"/>
              <a:t> Notebook</a:t>
            </a:r>
            <a:br>
              <a:rPr lang="en-US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7850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4496-4862-5584-0678-457DE534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15238-9E20-37B8-E119-CE1EE3E45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Customer churn is a major problem in telecom industry.</a:t>
            </a:r>
          </a:p>
          <a:p>
            <a:r>
              <a:rPr lang="en-US" dirty="0"/>
              <a:t>Companies lose revenue when customers leave</a:t>
            </a:r>
          </a:p>
          <a:p>
            <a:r>
              <a:rPr lang="en-US" dirty="0"/>
              <a:t>Identifying churn early helps in retention</a:t>
            </a:r>
          </a:p>
          <a:p>
            <a:r>
              <a:rPr lang="en-US" dirty="0"/>
              <a:t>Goal: Predict which customers are likely to leave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30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2325-5DB5-C70C-FEA6-2A0130FA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D55A7-40D8-723D-9E7D-7DC3D34BB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customer data using SQL</a:t>
            </a:r>
          </a:p>
          <a:p>
            <a:r>
              <a:rPr lang="en-IN" dirty="0"/>
              <a:t>Identify patterns behind churn</a:t>
            </a:r>
          </a:p>
          <a:p>
            <a:r>
              <a:rPr lang="en-US" dirty="0"/>
              <a:t>Build a machine learning model to predict churn</a:t>
            </a:r>
          </a:p>
          <a:p>
            <a:r>
              <a:rPr lang="en-IN" dirty="0"/>
              <a:t>Segment customers into groups</a:t>
            </a:r>
          </a:p>
          <a:p>
            <a:r>
              <a:rPr lang="en-IN" dirty="0"/>
              <a:t>Provide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379744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F52DB-80CF-DF04-4D00-E06E90AC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8ED89-50B3-68AA-6D06-E52EFB8D4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Dataset: Telco Customer Churn Dataset</a:t>
            </a:r>
          </a:p>
          <a:p>
            <a:pPr marL="0" indent="0">
              <a:buNone/>
            </a:pPr>
            <a:r>
              <a:rPr lang="en-US" b="1" dirty="0"/>
              <a:t>Features:</a:t>
            </a:r>
            <a:endParaRPr lang="en-US" dirty="0"/>
          </a:p>
          <a:p>
            <a:r>
              <a:rPr lang="en-US" dirty="0"/>
              <a:t>Age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Tenure</a:t>
            </a:r>
          </a:p>
          <a:p>
            <a:r>
              <a:rPr lang="en-US" dirty="0" err="1"/>
              <a:t>MonthlyCharges</a:t>
            </a:r>
            <a:endParaRPr lang="en-US" dirty="0"/>
          </a:p>
          <a:p>
            <a:r>
              <a:rPr lang="en-US" dirty="0"/>
              <a:t>Contract</a:t>
            </a:r>
          </a:p>
          <a:p>
            <a:r>
              <a:rPr lang="en-US" dirty="0" err="1"/>
              <a:t>PaymentMethod</a:t>
            </a:r>
            <a:endParaRPr lang="en-US" dirty="0"/>
          </a:p>
          <a:p>
            <a:r>
              <a:rPr lang="en-US" dirty="0" err="1"/>
              <a:t>TotalCharges</a:t>
            </a:r>
            <a:endParaRPr lang="en-US" dirty="0"/>
          </a:p>
          <a:p>
            <a:r>
              <a:rPr lang="en-US" dirty="0"/>
              <a:t>Churn (Target Variable)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4662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F039-CB50-5001-B35D-8F8866010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923F4-3862-7E43-AD4C-8D2676548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(Pandas, NumPy)</a:t>
            </a:r>
          </a:p>
          <a:p>
            <a:r>
              <a:rPr lang="en-IN" dirty="0"/>
              <a:t>Machine Learning (Scikit-learn)</a:t>
            </a:r>
          </a:p>
          <a:p>
            <a:r>
              <a:rPr lang="en-IN" dirty="0"/>
              <a:t>SQL (MySQL / SQLite)</a:t>
            </a:r>
          </a:p>
          <a:p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r>
              <a:rPr lang="en-IN" dirty="0"/>
              <a:t>Data Visualization (Matplotlib, Seaborn)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936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F652A-9170-B1F9-CFA0-30B2404C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 (Flow)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0F002-B465-654A-6EE3-139FC309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SQL Analysis</a:t>
            </a:r>
          </a:p>
          <a:p>
            <a:r>
              <a:rPr lang="en-US" dirty="0"/>
              <a:t>Data Visualization</a:t>
            </a:r>
          </a:p>
          <a:p>
            <a:r>
              <a:rPr lang="en-US" dirty="0"/>
              <a:t>Model Building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Customer Segmentation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5955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CEB-C145-825A-DAB4-51AB81C4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7B780-B87B-C91C-E4C7-28A706979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Performed queries to extract insights:</a:t>
            </a:r>
          </a:p>
          <a:p>
            <a:r>
              <a:rPr lang="en-US" dirty="0"/>
              <a:t>Total customers</a:t>
            </a:r>
          </a:p>
          <a:p>
            <a:r>
              <a:rPr lang="en-US" dirty="0"/>
              <a:t>Churn vs Non-Churn count</a:t>
            </a:r>
          </a:p>
          <a:p>
            <a:r>
              <a:rPr lang="en-US" dirty="0"/>
              <a:t>Average Monthly Charges</a:t>
            </a:r>
          </a:p>
          <a:p>
            <a:r>
              <a:rPr lang="en-US" dirty="0"/>
              <a:t>Tenure analysis</a:t>
            </a:r>
          </a:p>
          <a:p>
            <a:r>
              <a:rPr lang="en-US" dirty="0"/>
              <a:t>Payment method analysis</a:t>
            </a:r>
          </a:p>
          <a:p>
            <a:pPr marL="0" indent="0">
              <a:buNone/>
            </a:pPr>
            <a:r>
              <a:rPr lang="en-US" dirty="0"/>
              <a:t>SQL helped in understanding data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84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1AA4-4A37-89AA-4CFD-AF3F68909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F712F-5E22-81A5-F63E-0CA9019D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SELECT Churn, COUNT(*) FROM </a:t>
            </a:r>
            <a:r>
              <a:rPr lang="en-US" dirty="0" err="1"/>
              <a:t>churn_data</a:t>
            </a:r>
            <a:r>
              <a:rPr lang="en-US" dirty="0"/>
              <a:t> GROUP BY Churn;</a:t>
            </a:r>
          </a:p>
          <a:p>
            <a:r>
              <a:rPr lang="en-US" dirty="0"/>
              <a:t>SELECT AVG(</a:t>
            </a:r>
            <a:r>
              <a:rPr lang="en-US" dirty="0" err="1"/>
              <a:t>MonthlyCharges</a:t>
            </a:r>
            <a:r>
              <a:rPr lang="en-US" dirty="0"/>
              <a:t>) FROM </a:t>
            </a:r>
            <a:r>
              <a:rPr lang="en-US" dirty="0" err="1"/>
              <a:t>churn_data</a:t>
            </a:r>
            <a:r>
              <a:rPr lang="en-US" dirty="0"/>
              <a:t>;</a:t>
            </a:r>
          </a:p>
          <a:p>
            <a:r>
              <a:rPr lang="en-US" dirty="0"/>
              <a:t>SELECT Churn, AVG(Tenure) FROM </a:t>
            </a:r>
            <a:r>
              <a:rPr lang="en-US" dirty="0" err="1"/>
              <a:t>churn_data</a:t>
            </a:r>
            <a:r>
              <a:rPr lang="en-US" dirty="0"/>
              <a:t> GROUP BY Churn;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364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4012-E41F-8688-B1C3-9F8133D5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 (Python)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382BC-D6E8-CF80-F9EB-5904CE287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Removed unnecessary columns (</a:t>
            </a:r>
            <a:r>
              <a:rPr lang="en-US" dirty="0" err="1"/>
              <a:t>CustomerID</a:t>
            </a:r>
            <a:r>
              <a:rPr lang="en-US" dirty="0"/>
              <a:t>)</a:t>
            </a:r>
          </a:p>
          <a:p>
            <a:r>
              <a:rPr lang="en-US" dirty="0"/>
              <a:t>Handled missing values</a:t>
            </a:r>
          </a:p>
          <a:p>
            <a:r>
              <a:rPr lang="en-US" dirty="0"/>
              <a:t>Converted categorical data into numeric</a:t>
            </a:r>
          </a:p>
          <a:p>
            <a:r>
              <a:rPr lang="en-US" dirty="0"/>
              <a:t>Prepared data for model training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846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838E-1CFD-D3C0-16E0-6CC694EF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BFA73-BAFD-D620-6B3A-1A3284EEA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Churn distribution graph</a:t>
            </a:r>
          </a:p>
          <a:p>
            <a:r>
              <a:rPr lang="en-US" dirty="0"/>
              <a:t>Correlation heatmap</a:t>
            </a:r>
          </a:p>
          <a:p>
            <a:r>
              <a:rPr lang="en-US" dirty="0"/>
              <a:t>Identified important features</a:t>
            </a:r>
          </a:p>
          <a:p>
            <a:pPr marL="0" indent="0">
              <a:buNone/>
            </a:pPr>
            <a:r>
              <a:rPr lang="en-US" dirty="0"/>
              <a:t>Insights:</a:t>
            </a:r>
          </a:p>
          <a:p>
            <a:r>
              <a:rPr lang="en-US" dirty="0"/>
              <a:t>High charges → more churn</a:t>
            </a:r>
          </a:p>
          <a:p>
            <a:r>
              <a:rPr lang="en-US" dirty="0"/>
              <a:t>Low tenure → more churn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13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EDDF58-7511-8FF3-36FD-363FC1249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53" y="525780"/>
            <a:ext cx="8816256" cy="58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42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3162C4-A971-C772-E46E-5B0AA6820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50" y="534828"/>
            <a:ext cx="7950113" cy="578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66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F2D6-462D-C52B-6C11-69ACFD90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00F2E-D6D1-C13B-0424-4C3642497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Used </a:t>
            </a:r>
            <a:r>
              <a:rPr lang="en-US" b="1" dirty="0"/>
              <a:t>Random Forest Classifier.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Random Forest?</a:t>
            </a:r>
          </a:p>
          <a:p>
            <a:r>
              <a:rPr lang="en-US" dirty="0"/>
              <a:t>High accuracy</a:t>
            </a:r>
          </a:p>
          <a:p>
            <a:r>
              <a:rPr lang="en-US" dirty="0"/>
              <a:t>Handles large data</a:t>
            </a:r>
          </a:p>
          <a:p>
            <a:r>
              <a:rPr lang="en-US" dirty="0"/>
              <a:t>Reduces overfitting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199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F92B-8A67-1F8E-2A34-7E98D733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8099A-5C7E-8BD7-523C-5B22FC750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IN" dirty="0"/>
              <a:t>Accuracy Score</a:t>
            </a:r>
          </a:p>
          <a:p>
            <a:r>
              <a:rPr lang="en-IN" dirty="0"/>
              <a:t>Confusion Matrix</a:t>
            </a:r>
          </a:p>
          <a:p>
            <a:r>
              <a:rPr lang="en-IN" dirty="0"/>
              <a:t>Classification Report</a:t>
            </a:r>
          </a:p>
          <a:p>
            <a:pPr marL="0" indent="0">
              <a:buNone/>
            </a:pPr>
            <a:r>
              <a:rPr lang="en-IN" dirty="0"/>
              <a:t>Model predicts customer churn effectively.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73092-AB2B-F6F2-3A7C-C7BDBB2FB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43" y="3252098"/>
            <a:ext cx="6742384" cy="335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36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1CEC-7ECB-3F00-2435-AC914F08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71477-AB5B-5CC9-45A2-129CC5DEF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Important factors affecting churn:</a:t>
            </a:r>
          </a:p>
          <a:p>
            <a:r>
              <a:rPr lang="en-US" dirty="0" err="1"/>
              <a:t>MonthlyCharges</a:t>
            </a:r>
            <a:endParaRPr lang="en-US" dirty="0"/>
          </a:p>
          <a:p>
            <a:r>
              <a:rPr lang="en-US" dirty="0"/>
              <a:t>Tenure</a:t>
            </a:r>
          </a:p>
          <a:p>
            <a:r>
              <a:rPr lang="en-US" dirty="0"/>
              <a:t>Contract Type</a:t>
            </a:r>
          </a:p>
          <a:p>
            <a:pPr marL="0" indent="0">
              <a:buNone/>
            </a:pPr>
            <a:r>
              <a:rPr lang="en-US" dirty="0"/>
              <a:t>These features influence customer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691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435E-B306-2895-292E-0F9F8DAA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8918E-47EE-20A0-0F58-C5CEFF9F7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Customers divided into:</a:t>
            </a:r>
          </a:p>
          <a:p>
            <a:r>
              <a:rPr lang="en-US" dirty="0"/>
              <a:t>At Risk → likely to churn</a:t>
            </a:r>
          </a:p>
          <a:p>
            <a:r>
              <a:rPr lang="en-US" dirty="0"/>
              <a:t>Loyal → long-term customers</a:t>
            </a:r>
          </a:p>
          <a:p>
            <a:r>
              <a:rPr lang="en-US" dirty="0"/>
              <a:t>Dormant → low activity</a:t>
            </a:r>
          </a:p>
          <a:p>
            <a:pPr marL="0" indent="0">
              <a:buNone/>
            </a:pPr>
            <a:r>
              <a:rPr lang="en-US" dirty="0"/>
              <a:t>Helps in targeted marketing.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533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2326-271A-A289-3DE4-D2303B4A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BAB1D-2617-7894-FF6E-7DDB04A5D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Customers with high monthly charges are more likely to churn</a:t>
            </a:r>
          </a:p>
          <a:p>
            <a:r>
              <a:rPr lang="en-US" dirty="0"/>
              <a:t>New customers churn more than old customers</a:t>
            </a:r>
          </a:p>
          <a:p>
            <a:r>
              <a:rPr lang="en-US" dirty="0"/>
              <a:t>Certain payment methods show higher churn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5936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9FD4-B29F-5A6B-ED01-41023A3D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5C434-4452-42E0-7383-FEA3DEA41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Offer discounts to high-risk customers</a:t>
            </a:r>
          </a:p>
          <a:p>
            <a:r>
              <a:rPr lang="en-US" dirty="0"/>
              <a:t>Promote long-term contracts</a:t>
            </a:r>
          </a:p>
          <a:p>
            <a:r>
              <a:rPr lang="en-US" dirty="0"/>
              <a:t>Improve service quality</a:t>
            </a:r>
          </a:p>
          <a:p>
            <a:r>
              <a:rPr lang="en-US" dirty="0"/>
              <a:t>Provide loyalty rewards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782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A81D-D768-24FF-C83F-5DE14C4B9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86700-0C0E-D2A4-D56B-A53DB1955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analyzed churn using SQL &amp; Python</a:t>
            </a:r>
          </a:p>
          <a:p>
            <a:r>
              <a:rPr lang="en-US" dirty="0"/>
              <a:t>Built predictive model</a:t>
            </a:r>
          </a:p>
          <a:p>
            <a:r>
              <a:rPr lang="en-US" dirty="0"/>
              <a:t>Identified key factors affecting churn</a:t>
            </a:r>
          </a:p>
          <a:p>
            <a:r>
              <a:rPr lang="en-US" dirty="0"/>
              <a:t>Provided actionable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3527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6EB9-69AE-EFC1-8BF4-0C6C5725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0EF1-CD75-5D08-FC5C-B4EB35601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Use advanced models (</a:t>
            </a:r>
            <a:r>
              <a:rPr lang="en-US" dirty="0" err="1"/>
              <a:t>XGBoost</a:t>
            </a:r>
            <a:r>
              <a:rPr lang="en-US" dirty="0"/>
              <a:t>, Deep Learning)</a:t>
            </a:r>
          </a:p>
          <a:p>
            <a:r>
              <a:rPr lang="en-US" dirty="0"/>
              <a:t>Real-time churn prediction system</a:t>
            </a:r>
          </a:p>
          <a:p>
            <a:r>
              <a:rPr lang="en-US" dirty="0"/>
              <a:t>Dashboard integration (Power BI)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8037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0B3F-4B33-2EE9-B63B-79D929B4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6DB61-2AC5-E600-FC0E-75330F25F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Kaggle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  <a:p>
            <a:r>
              <a:rPr lang="fr-FR" dirty="0"/>
              <a:t>Python Documentation</a:t>
            </a:r>
          </a:p>
          <a:p>
            <a:r>
              <a:rPr lang="fr-FR" dirty="0" err="1"/>
              <a:t>Scikit-learn</a:t>
            </a:r>
            <a:r>
              <a:rPr lang="fr-FR" dirty="0"/>
              <a:t> 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328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BDEF4-33EF-368F-B957-8BE63C2AA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4ADE-7905-5713-B3E2-05ACB5E3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27838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IN" sz="8800" b="1" dirty="0"/>
              <a:t>Thank You..!!</a:t>
            </a:r>
          </a:p>
        </p:txBody>
      </p:sp>
    </p:spTree>
    <p:extLst>
      <p:ext uri="{BB962C8B-B14F-4D97-AF65-F5344CB8AC3E}">
        <p14:creationId xmlns:p14="http://schemas.microsoft.com/office/powerpoint/2010/main" val="33520456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451</Words>
  <Application>Microsoft Office PowerPoint</Application>
  <PresentationFormat>Widescreen</PresentationFormat>
  <Paragraphs>115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Trebuchet MS</vt:lpstr>
      <vt:lpstr>Wingdings 3</vt:lpstr>
      <vt:lpstr>Facet</vt:lpstr>
      <vt:lpstr>Customer Churn Analysis using SQL &amp; Machine Learning</vt:lpstr>
      <vt:lpstr>Problem Statement</vt:lpstr>
      <vt:lpstr>Objectives</vt:lpstr>
      <vt:lpstr>Dataset Description</vt:lpstr>
      <vt:lpstr>Tools &amp; Technologies</vt:lpstr>
      <vt:lpstr>Methodology (Flow) </vt:lpstr>
      <vt:lpstr>SQL Analysis</vt:lpstr>
      <vt:lpstr>Key SQL Queries</vt:lpstr>
      <vt:lpstr>Data Preprocessing (Python)</vt:lpstr>
      <vt:lpstr>Exploratory Data Analysis</vt:lpstr>
      <vt:lpstr>PowerPoint Presentation</vt:lpstr>
      <vt:lpstr>PowerPoint Presentation</vt:lpstr>
      <vt:lpstr>Model Building</vt:lpstr>
      <vt:lpstr>Model Evaluation</vt:lpstr>
      <vt:lpstr>Feature Importance</vt:lpstr>
      <vt:lpstr>Customer Segmentation</vt:lpstr>
      <vt:lpstr>Business Insights</vt:lpstr>
      <vt:lpstr>Recommendations</vt:lpstr>
      <vt:lpstr>Conclusion</vt:lpstr>
      <vt:lpstr>Future Scope</vt:lpstr>
      <vt:lpstr>References</vt:lpstr>
      <vt:lpstr>Thank You..!!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Sanchit Khandalkar</dc:creator>
  <cp:lastModifiedBy>Sanchit Khandalkar</cp:lastModifiedBy>
  <cp:revision>1</cp:revision>
  <dcterms:created xsi:type="dcterms:W3CDTF">2026-03-20T16:28:00Z</dcterms:created>
  <dcterms:modified xsi:type="dcterms:W3CDTF">2026-03-20T16:44:01Z</dcterms:modified>
</cp:coreProperties>
</file>